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75120" y="822960"/>
            <a:ext cx="5120640" cy="5669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8000" b="1" i="0">
                <a:solidFill>
                  <a:srgbClr val="2A2A33"/>
                </a:solidFill>
                <a:latin typeface="Noto Serif CJK SC"/>
                <a:ea typeface="Noto Serif CJK SC"/>
                <a:cs typeface="Noto Serif CJK SC"/>
              </a:rPr>
              <a:t>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6969A"/>
                </a:solidFill>
                <a:latin typeface="DejaVu Sans Mono"/>
                <a:ea typeface="DejaVu Sans Mono"/>
                <a:cs typeface="DejaVu Sans Mono"/>
              </a:rPr>
              <a:t>FINALS 2026 · TRACK </a:t>
            </a:r>
            <a:r>
              <a:rPr sz="12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生活娱乐伙伴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96112"/>
            <a:ext cx="45720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5568" y="896112"/>
            <a:ext cx="457200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6969A"/>
                </a:solidFill>
                <a:latin typeface="DejaVu Sans Mono"/>
                <a:ea typeface="DejaVu Sans Mono"/>
                <a:cs typeface="DejaVu Sans Mono"/>
              </a:rPr>
              <a:t>01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058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600" b="1" i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SKDMatch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97316"/>
                </a:solidFill>
                <a:latin typeface="Noto Serif CJK SC"/>
                <a:ea typeface="Noto Serif CJK SC"/>
                <a:cs typeface="Noto Serif CJK SC"/>
              </a:rPr>
              <a:t>科爱捏</a:t>
            </a:r>
            <a:r>
              <a:rPr sz="2000" b="0" i="0">
                <a:solidFill>
                  <a:srgbClr val="CFCFD6"/>
                </a:solidFill>
                <a:latin typeface="Noto Sans CJK SC"/>
                <a:ea typeface="Noto Sans CJK SC"/>
                <a:cs typeface="Noto Sans CJK SC"/>
              </a:rPr>
              <a:t>  上科大校内互助交流平台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TEAM c-4 · Philia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FCFD6"/>
                </a:solidFill>
                <a:latin typeface="Noto Sans CJK SC"/>
                <a:ea typeface="Noto Sans CJK SC"/>
                <a:cs typeface="Noto Sans CJK SC"/>
              </a:rPr>
              <a:t>唐志昊 · 司雪阳 · 唐玟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5989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6969A"/>
                </a:solidFill>
                <a:latin typeface="DejaVu Sans Mono"/>
                <a:ea typeface="DejaVu Sans Mono"/>
                <a:cs typeface="DejaVu Sans Mono"/>
              </a:rPr>
              <a:t>github.com/tzhazuma/STUMatch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75120" y="822960"/>
            <a:ext cx="5120640" cy="5669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8000" b="1" i="0">
                <a:solidFill>
                  <a:srgbClr val="2A2A33"/>
                </a:solidFill>
                <a:latin typeface="Noto Serif CJK SC"/>
                <a:ea typeface="Noto Serif CJK SC"/>
                <a:cs typeface="Noto Serif CJK SC"/>
              </a:rPr>
              <a:t>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6969A"/>
                </a:solidFill>
                <a:latin typeface="DejaVu Sans Mono"/>
                <a:ea typeface="DejaVu Sans Mono"/>
                <a:cs typeface="DejaVu Sans Mono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96112"/>
            <a:ext cx="45720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5568" y="896112"/>
            <a:ext cx="457200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6969A"/>
                </a:solidFill>
                <a:latin typeface="DejaVu Sans Mono"/>
                <a:ea typeface="DejaVu Sans Mono"/>
                <a:cs typeface="DejaVu Sans Mono"/>
              </a:rPr>
              <a:t>02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目录 </a:t>
            </a:r>
            <a:r>
              <a:rPr sz="22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CONTENTS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2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01   </a:t>
            </a:r>
            <a:r>
              <a:rPr sz="210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作品背景与定位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2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02   </a:t>
            </a:r>
            <a:r>
              <a:rPr sz="210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技术架构与实现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2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03   </a:t>
            </a:r>
            <a:r>
              <a:rPr sz="210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功能模块介绍与演示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2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04   </a:t>
            </a:r>
            <a:r>
              <a:rPr sz="210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应用案例与场景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2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05   </a:t>
            </a:r>
            <a:r>
              <a:rPr sz="210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创新性与独特视角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2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06   </a:t>
            </a:r>
            <a:r>
              <a:rPr sz="210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建议与展望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40080" y="457200"/>
            <a:ext cx="10881360" cy="0"/>
          </a:xfrm>
          <a:prstGeom prst="line">
            <a:avLst/>
          </a:prstGeom>
          <a:ln w="12700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01  </a:t>
            </a:r>
            <a:r>
              <a:rPr sz="12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作品背景与定位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03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51206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同学很多，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知己很少。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78"/>
                </a:solidFill>
                <a:latin typeface="Noto Sans CJK SC"/>
                <a:ea typeface="Noto Sans CJK SC"/>
                <a:cs typeface="Noto Sans CJK SC"/>
              </a:rPr>
              <a:t>校园社交的供需错配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01  </a:t>
            </a:r>
            <a:r>
              <a:rPr sz="17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身份信任成本高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0" i="0">
                <a:solidFill>
                  <a:srgbClr val="6B6B78"/>
                </a:solidFill>
                <a:latin typeface="Noto Sans CJK SC"/>
                <a:ea typeface="Noto Sans CJK SC"/>
                <a:cs typeface="Noto Sans CJK SC"/>
              </a:rPr>
              <a:t>陌生平台难确认同校身份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02  </a:t>
            </a:r>
            <a:r>
              <a:rPr sz="17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匹配维度单一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0" i="0">
                <a:solidFill>
                  <a:srgbClr val="6B6B78"/>
                </a:solidFill>
                <a:latin typeface="Noto Sans CJK SC"/>
                <a:ea typeface="Noto Sans CJK SC"/>
                <a:cs typeface="Noto Sans CJK SC"/>
              </a:rPr>
              <a:t>只看标签，缺学术/兴趣/恋爱分层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03  </a:t>
            </a:r>
            <a:r>
              <a:rPr sz="17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推荐不可解释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0" i="0">
                <a:solidFill>
                  <a:srgbClr val="6B6B78"/>
                </a:solidFill>
                <a:latin typeface="Noto Sans CJK SC"/>
                <a:ea typeface="Noto Sans CJK SC"/>
                <a:cs typeface="Noto Sans CJK SC"/>
              </a:rPr>
              <a:t>不知道为什么被推荐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04  </a:t>
            </a:r>
            <a:r>
              <a:rPr sz="17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内容审核滞后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0" i="0">
                <a:solidFill>
                  <a:srgbClr val="6B6B78"/>
                </a:solidFill>
                <a:latin typeface="Noto Sans CJK SC"/>
                <a:ea typeface="Noto Sans CJK SC"/>
                <a:cs typeface="Noto Sans CJK SC"/>
              </a:rPr>
              <a:t>敏感信息靠人工，响应慢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5212080"/>
            <a:ext cx="10515600" cy="0"/>
          </a:xfrm>
          <a:prstGeom prst="line">
            <a:avLst/>
          </a:prstGeom>
          <a:ln w="9525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目标用户  </a:t>
            </a:r>
            <a:r>
              <a:rPr sz="15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上科大在校生，寻找学术伙伴 · 兴趣搭子 · 安全交友对象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40080" y="457200"/>
            <a:ext cx="10881360" cy="0"/>
          </a:xfrm>
          <a:prstGeom prst="line">
            <a:avLst/>
          </a:prstGeom>
          <a:ln w="12700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01  </a:t>
            </a:r>
            <a:r>
              <a:rPr sz="12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作品背景与定位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04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团队与分工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120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唐志昊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队长 · 技术方案 + 技术实现 + 前端视觉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司雪阳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idea 设计 + 完善 + 测试优化 + 问卷探讨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唐玟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idea 与技术探讨 + 问卷设计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344168"/>
            <a:ext cx="3657600" cy="2435860"/>
          </a:xfrm>
          <a:prstGeom prst="rect">
            <a:avLst/>
          </a:prstGeom>
          <a:solidFill>
            <a:srgbClr val="DA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3657600" cy="2435860"/>
          </a:xfrm>
          <a:prstGeom prst="rect">
            <a:avLst/>
          </a:prstGeom>
          <a:ln w="12700">
            <a:solidFill>
              <a:srgbClr val="6B6B78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8577072" y="2852928"/>
            <a:ext cx="2743200" cy="1714500"/>
          </a:xfrm>
          <a:prstGeom prst="rect">
            <a:avLst/>
          </a:prstGeom>
          <a:solidFill>
            <a:srgbClr val="DA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743200"/>
            <a:ext cx="2743200" cy="1714500"/>
          </a:xfrm>
          <a:prstGeom prst="rect">
            <a:avLst/>
          </a:prstGeom>
          <a:ln w="12700">
            <a:solidFill>
              <a:srgbClr val="6B6B78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repo  github.com/tzhazuma/STUMatch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40080" y="457200"/>
            <a:ext cx="10881360" cy="0"/>
          </a:xfrm>
          <a:prstGeom prst="line">
            <a:avLst/>
          </a:prstGeom>
          <a:ln w="12700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02  </a:t>
            </a:r>
            <a:r>
              <a:rPr sz="12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技术架构与实现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05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分层架构</a:t>
            </a:r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368" y="1463040"/>
            <a:ext cx="8595360" cy="4476417"/>
          </a:xfrm>
          <a:prstGeom prst="rect">
            <a:avLst/>
          </a:prstGeom>
          <a:ln w="12700">
            <a:solidFill>
              <a:srgbClr val="6B6B7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766560" y="605332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部署: Docker Compose + GitHub Actions CI/CD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40080" y="457200"/>
            <a:ext cx="10881360" cy="0"/>
          </a:xfrm>
          <a:prstGeom prst="line">
            <a:avLst/>
          </a:prstGeom>
          <a:ln w="12700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02  </a:t>
            </a:r>
            <a:r>
              <a:rPr sz="12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技术架构与实现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06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模型与工具选型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77724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07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B78"/>
                </a:solidFill>
                <a:latin typeface="Noto Sans CJK SC"/>
                <a:ea typeface="Noto Sans CJK SC"/>
                <a:cs typeface="Noto Sans CJK SC"/>
              </a:rPr>
              <a:t>核心技术栈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10424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sentence-transformers</a:t>
            </a:r>
            <a:r>
              <a:rPr sz="14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   —   </a:t>
            </a:r>
            <a:r>
              <a:rPr sz="16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画像向量化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pgvector</a:t>
            </a:r>
            <a:r>
              <a:rPr sz="14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   —   </a:t>
            </a:r>
            <a:r>
              <a:rPr sz="16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语义召回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Two-Tower + BPR</a:t>
            </a:r>
            <a:r>
              <a:rPr sz="14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   —   </a:t>
            </a:r>
            <a:r>
              <a:rPr sz="16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精排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Qwen2.5 QLoRA</a:t>
            </a:r>
            <a:r>
              <a:rPr sz="14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   —   </a:t>
            </a:r>
            <a:r>
              <a:rPr sz="16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本地微调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DFA</a:t>
            </a:r>
            <a:r>
              <a:rPr sz="14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   —   </a:t>
            </a:r>
            <a:r>
              <a:rPr sz="16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敏感词审核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FastAPI + WS</a:t>
            </a:r>
            <a:r>
              <a:rPr sz="14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   —   </a:t>
            </a:r>
            <a:r>
              <a:rPr sz="16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网关与 IM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PostgreSQL · Redis · MinIO</a:t>
            </a:r>
            <a:r>
              <a:rPr sz="14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   —   </a:t>
            </a:r>
            <a:r>
              <a:rPr sz="16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存储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40080" y="457200"/>
            <a:ext cx="10881360" cy="0"/>
          </a:xfrm>
          <a:prstGeom prst="line">
            <a:avLst/>
          </a:prstGeom>
          <a:ln w="12700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02  </a:t>
            </a:r>
            <a:r>
              <a:rPr sz="12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技术架构与实现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07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知识库 · 提示词 · 插件集成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91640"/>
            <a:ext cx="109728" cy="8686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知识库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画像字段 + 问卷答案拼接为结构化语义文本，作为向量化与召回的输入。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70632"/>
            <a:ext cx="109728" cy="8686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24912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提示词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把双方画像喂入大模型，生成 “为什么推荐 TA” 的可解释理由。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49624"/>
            <a:ext cx="109728" cy="8686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03904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插件集成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AI 网关统一 OpenAI SDK，兼容 DeepSeek / Kimi / LMStudio 等多 provider，DEFAULT_AI_PROVIDER 一键切换。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946903"/>
            <a:ext cx="10058400" cy="868680"/>
          </a:xfrm>
          <a:prstGeom prst="round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5056631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prompt&gt; </a:t>
            </a:r>
            <a:r>
              <a:rPr sz="1200" b="0" i="0">
                <a:solidFill>
                  <a:srgbClr val="2A2A33"/>
                </a:solidFill>
                <a:latin typeface="DejaVu Sans Mono"/>
                <a:ea typeface="DejaVu Sans Mono"/>
                <a:cs typeface="DejaVu Sans Mono"/>
              </a:rPr>
              <a:t>基于用户A画像 {…} 与用户B画像 {…}，用 3 点说明他们的契合度，语气真诚克制。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75120" y="822960"/>
            <a:ext cx="5120640" cy="5669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8000" b="1" i="0">
                <a:solidFill>
                  <a:srgbClr val="2A2A33"/>
                </a:solidFill>
                <a:latin typeface="Noto Serif CJK SC"/>
                <a:ea typeface="Noto Serif CJK SC"/>
                <a:cs typeface="Noto Serif CJK SC"/>
              </a:rPr>
              <a:t>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6969A"/>
                </a:solidFill>
                <a:latin typeface="DejaVu Sans Mono"/>
                <a:ea typeface="DejaVu Sans Mono"/>
                <a:cs typeface="DejaVu Sans Mono"/>
              </a:rPr>
              <a:t>03  FUNCTION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96112"/>
            <a:ext cx="45720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5568" y="896112"/>
            <a:ext cx="457200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6969A"/>
                </a:solidFill>
                <a:latin typeface="DejaVu Sans Mono"/>
                <a:ea typeface="DejaVu Sans Mono"/>
                <a:cs typeface="DejaVu Sans Mono"/>
              </a:rPr>
              <a:t>08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功能矩阵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515600" cy="3977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73152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74519"/>
            <a:ext cx="228600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1874519"/>
            <a:ext cx="694944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完成说明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72284"/>
            <a:ext cx="10515599" cy="0"/>
          </a:xfrm>
          <a:prstGeom prst="line">
            <a:avLst/>
          </a:prstGeom>
          <a:ln w="9525">
            <a:solidFill>
              <a:srgbClr val="3333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60120" y="2272284"/>
            <a:ext cx="73152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272284"/>
            <a:ext cx="228600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认证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2272284"/>
            <a:ext cx="694944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C4CC"/>
                </a:solidFill>
                <a:latin typeface="Noto Sans CJK SC"/>
                <a:ea typeface="Noto Sans CJK SC"/>
                <a:cs typeface="Noto Sans CJK SC"/>
              </a:rPr>
              <a:t>邮箱验证码 + JWT 双令牌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670048"/>
            <a:ext cx="10515600" cy="397764"/>
          </a:xfrm>
          <a:prstGeom prst="rect">
            <a:avLst/>
          </a:prstGeom>
          <a:solidFill>
            <a:srgbClr val="1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22960" y="2670048"/>
            <a:ext cx="10515599" cy="0"/>
          </a:xfrm>
          <a:prstGeom prst="line">
            <a:avLst/>
          </a:prstGeom>
          <a:ln w="9525">
            <a:solidFill>
              <a:srgbClr val="3333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0120" y="2670048"/>
            <a:ext cx="73152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670048"/>
            <a:ext cx="228600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资料画像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670048"/>
            <a:ext cx="694944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C4CC"/>
                </a:solidFill>
                <a:latin typeface="Noto Sans CJK SC"/>
                <a:ea typeface="Noto Sans CJK SC"/>
                <a:cs typeface="Noto Sans CJK SC"/>
              </a:rPr>
              <a:t>CRUD + 头像 + 年龄自算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" y="3067812"/>
            <a:ext cx="10515599" cy="0"/>
          </a:xfrm>
          <a:prstGeom prst="line">
            <a:avLst/>
          </a:prstGeom>
          <a:ln w="9525">
            <a:solidFill>
              <a:srgbClr val="3333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60120" y="3067812"/>
            <a:ext cx="73152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067812"/>
            <a:ext cx="228600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问卷系统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3067812"/>
            <a:ext cx="694944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C4CC"/>
                </a:solidFill>
                <a:latin typeface="Noto Sans CJK SC"/>
                <a:ea typeface="Noto Sans CJK SC"/>
                <a:cs typeface="Noto Sans CJK SC"/>
              </a:rPr>
              <a:t>四套可扩展问卷 · 题型校验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465576"/>
            <a:ext cx="10515600" cy="397764"/>
          </a:xfrm>
          <a:prstGeom prst="rect">
            <a:avLst/>
          </a:prstGeom>
          <a:solidFill>
            <a:srgbClr val="1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22960" y="3465576"/>
            <a:ext cx="10515599" cy="0"/>
          </a:xfrm>
          <a:prstGeom prst="line">
            <a:avLst/>
          </a:prstGeom>
          <a:ln w="9525">
            <a:solidFill>
              <a:srgbClr val="3333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0120" y="3465576"/>
            <a:ext cx="73152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465576"/>
            <a:ext cx="228600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三板块推荐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79" y="3465576"/>
            <a:ext cx="694944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C4CC"/>
                </a:solidFill>
                <a:latin typeface="Noto Sans CJK SC"/>
                <a:ea typeface="Noto Sans CJK SC"/>
                <a:cs typeface="Noto Sans CJK SC"/>
              </a:rPr>
              <a:t>学术 · 日常 · 恋爱独立匹配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2960" y="3863339"/>
            <a:ext cx="10515599" cy="0"/>
          </a:xfrm>
          <a:prstGeom prst="line">
            <a:avLst/>
          </a:prstGeom>
          <a:ln w="9525">
            <a:solidFill>
              <a:srgbClr val="3333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60120" y="3863339"/>
            <a:ext cx="73152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3863339"/>
            <a:ext cx="228600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即时通讯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79" y="3863339"/>
            <a:ext cx="694944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C4CC"/>
                </a:solidFill>
                <a:latin typeface="Noto Sans CJK SC"/>
                <a:ea typeface="Noto Sans CJK SC"/>
                <a:cs typeface="Noto Sans CJK SC"/>
              </a:rPr>
              <a:t>WebSocket 实时 + REST 备用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4261103"/>
            <a:ext cx="10515600" cy="397764"/>
          </a:xfrm>
          <a:prstGeom prst="rect">
            <a:avLst/>
          </a:prstGeom>
          <a:solidFill>
            <a:srgbClr val="1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22960" y="4261103"/>
            <a:ext cx="10515599" cy="0"/>
          </a:xfrm>
          <a:prstGeom prst="line">
            <a:avLst/>
          </a:prstGeom>
          <a:ln w="9525">
            <a:solidFill>
              <a:srgbClr val="3333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60120" y="4261103"/>
            <a:ext cx="73152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4261103"/>
            <a:ext cx="228600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好友与留言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79" y="4261103"/>
            <a:ext cx="694944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C4CC"/>
                </a:solidFill>
                <a:latin typeface="Noto Sans CJK SC"/>
                <a:ea typeface="Noto Sans CJK SC"/>
                <a:cs typeface="Noto Sans CJK SC"/>
              </a:rPr>
              <a:t>申请 / 接受 / 拒绝 · 留言板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22960" y="4658867"/>
            <a:ext cx="10515599" cy="0"/>
          </a:xfrm>
          <a:prstGeom prst="line">
            <a:avLst/>
          </a:prstGeom>
          <a:ln w="9525">
            <a:solidFill>
              <a:srgbClr val="3333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60120" y="4658867"/>
            <a:ext cx="73152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4658867"/>
            <a:ext cx="228600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内容审核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79" y="4658867"/>
            <a:ext cx="694944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C4CC"/>
                </a:solidFill>
                <a:latin typeface="Noto Sans CJK SC"/>
                <a:ea typeface="Noto Sans CJK SC"/>
                <a:cs typeface="Noto Sans CJK SC"/>
              </a:rPr>
              <a:t>DFA 六类风险词全链路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5056631"/>
            <a:ext cx="10515600" cy="397764"/>
          </a:xfrm>
          <a:prstGeom prst="rect">
            <a:avLst/>
          </a:prstGeom>
          <a:solidFill>
            <a:srgbClr val="1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822960" y="5056631"/>
            <a:ext cx="10515599" cy="0"/>
          </a:xfrm>
          <a:prstGeom prst="line">
            <a:avLst/>
          </a:prstGeom>
          <a:ln w="9525">
            <a:solidFill>
              <a:srgbClr val="3333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60120" y="5056631"/>
            <a:ext cx="73152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5056631"/>
            <a:ext cx="228600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邀请转发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79" y="5056631"/>
            <a:ext cx="694944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C4CC"/>
                </a:solidFill>
                <a:latin typeface="Noto Sans CJK SC"/>
                <a:ea typeface="Noto Sans CJK SC"/>
                <a:cs typeface="Noto Sans CJK SC"/>
              </a:rPr>
              <a:t>一码多 invitee · 注册应用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22960" y="5454395"/>
            <a:ext cx="10515599" cy="0"/>
          </a:xfrm>
          <a:prstGeom prst="line">
            <a:avLst/>
          </a:prstGeom>
          <a:ln w="9525">
            <a:solidFill>
              <a:srgbClr val="3333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60120" y="5454395"/>
            <a:ext cx="73152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454395"/>
            <a:ext cx="228600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AI 网关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5454395"/>
            <a:ext cx="694944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C4CC"/>
                </a:solidFill>
                <a:latin typeface="Noto Sans CJK SC"/>
                <a:ea typeface="Noto Sans CJK SC"/>
                <a:cs typeface="Noto Sans CJK SC"/>
              </a:rPr>
              <a:t>多 provider 统一 SDK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5852159"/>
            <a:ext cx="10515600" cy="397764"/>
          </a:xfrm>
          <a:prstGeom prst="rect">
            <a:avLst/>
          </a:prstGeom>
          <a:solidFill>
            <a:srgbClr val="1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822960" y="5852159"/>
            <a:ext cx="10515599" cy="0"/>
          </a:xfrm>
          <a:prstGeom prst="line">
            <a:avLst/>
          </a:prstGeom>
          <a:ln w="9525">
            <a:solidFill>
              <a:srgbClr val="3333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60120" y="5852159"/>
            <a:ext cx="73152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28800" y="5852159"/>
            <a:ext cx="228600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管理后台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97679" y="5852159"/>
            <a:ext cx="6949440" cy="397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C4CC"/>
                </a:solidFill>
                <a:latin typeface="Noto Sans CJK SC"/>
                <a:ea typeface="Noto Sans CJK SC"/>
                <a:cs typeface="Noto Sans CJK SC"/>
              </a:rPr>
              <a:t>用户 · 举报 · 词库管理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22960" y="6249923"/>
            <a:ext cx="10515599" cy="0"/>
          </a:xfrm>
          <a:prstGeom prst="line">
            <a:avLst/>
          </a:prstGeom>
          <a:ln w="9525">
            <a:solidFill>
              <a:srgbClr val="3333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40080" y="457200"/>
            <a:ext cx="10881360" cy="0"/>
          </a:xfrm>
          <a:prstGeom prst="line">
            <a:avLst/>
          </a:prstGeom>
          <a:ln w="12700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03  </a:t>
            </a:r>
            <a:r>
              <a:rPr sz="12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功能模块介绍与演示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09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三板块发现与推荐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892807"/>
            <a:ext cx="3383280" cy="2495169"/>
          </a:xfrm>
          <a:prstGeom prst="rect">
            <a:avLst/>
          </a:prstGeom>
          <a:solidFill>
            <a:srgbClr val="DA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scovery_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3383280" cy="2495169"/>
          </a:xfrm>
          <a:prstGeom prst="rect">
            <a:avLst/>
          </a:prstGeom>
          <a:ln w="12700">
            <a:solidFill>
              <a:srgbClr val="6B6B78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4325112" y="2258568"/>
            <a:ext cx="3200400" cy="2200275"/>
          </a:xfrm>
          <a:prstGeom prst="rect">
            <a:avLst/>
          </a:prstGeom>
          <a:solidFill>
            <a:srgbClr val="DA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iscovery_da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48840"/>
            <a:ext cx="3200400" cy="2200275"/>
          </a:xfrm>
          <a:prstGeom prst="rect">
            <a:avLst/>
          </a:prstGeom>
          <a:ln w="12700">
            <a:solidFill>
              <a:srgbClr val="6B6B78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7708392" y="1801368"/>
            <a:ext cx="3520440" cy="2596324"/>
          </a:xfrm>
          <a:prstGeom prst="rect">
            <a:avLst/>
          </a:prstGeom>
          <a:solidFill>
            <a:srgbClr val="DA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iscovery_da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691640"/>
            <a:ext cx="3520440" cy="2596324"/>
          </a:xfrm>
          <a:prstGeom prst="rect">
            <a:avLst/>
          </a:prstGeom>
          <a:ln w="12700">
            <a:solidFill>
              <a:srgbClr val="6B6B78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822960" y="55321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学术 academic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5532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日常 daily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553212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恋爱 dating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每板块独立画像与规则 · 匹配分 + 标签 + AI 可解释理由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40080" y="457200"/>
            <a:ext cx="10881360" cy="0"/>
          </a:xfrm>
          <a:prstGeom prst="line">
            <a:avLst/>
          </a:prstGeom>
          <a:ln w="12700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03  </a:t>
            </a:r>
            <a:r>
              <a:rPr sz="12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功能模块介绍与演示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10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问卷即画像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847088"/>
            <a:ext cx="4206240" cy="5526532"/>
          </a:xfrm>
          <a:prstGeom prst="rect">
            <a:avLst/>
          </a:prstGeom>
          <a:solidFill>
            <a:srgbClr val="DA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uestionnaire_ba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206240" cy="5526532"/>
          </a:xfrm>
          <a:prstGeom prst="rect">
            <a:avLst/>
          </a:prstGeom>
          <a:ln w="12700">
            <a:solidFill>
              <a:srgbClr val="6B6B7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577840" y="1828800"/>
            <a:ext cx="58521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四套可扩展问卷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basic / academic / daily / dating 分别驱动不同板块的匹配。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题型校验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单选 / 多选 / 文本 / 评分 / 标签 / 日期，提交即校验。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答案同步 Profile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答案自动写回画像，驱动规则匹配与向量生成。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40080" y="457200"/>
            <a:ext cx="10881360" cy="0"/>
          </a:xfrm>
          <a:prstGeom prst="line">
            <a:avLst/>
          </a:prstGeom>
          <a:ln w="12700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03  </a:t>
            </a:r>
            <a:r>
              <a:rPr sz="12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功能模块介绍与演示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11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个人资料与邀请转发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847088"/>
            <a:ext cx="4297680" cy="6025705"/>
          </a:xfrm>
          <a:prstGeom prst="rect">
            <a:avLst/>
          </a:prstGeom>
          <a:solidFill>
            <a:srgbClr val="DA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297680" cy="6025706"/>
          </a:xfrm>
          <a:prstGeom prst="rect">
            <a:avLst/>
          </a:prstGeom>
          <a:ln w="12700">
            <a:solidFill>
              <a:srgbClr val="6B6B7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669280" y="1828800"/>
            <a:ext cx="57607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F97316"/>
                </a:solidFill>
                <a:latin typeface="Noto Sans CJK SC"/>
                <a:ea typeface="Noto Sans CJK SC"/>
                <a:cs typeface="Noto Sans CJK SC"/>
              </a:rPr>
              <a:t>个人资料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资料 CRUD + 头像上传 + 年龄自动计算。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F97316"/>
                </a:solidFill>
                <a:latin typeface="Noto Sans CJK SC"/>
                <a:ea typeface="Noto Sans CJK SC"/>
                <a:cs typeface="Noto Sans CJK SC"/>
              </a:rPr>
              <a:t>邀请转发 Referral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确定性 8 位邀请码，一码可绑定多个 invitee；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注册时应用邀请码，附使用统计 (sent / used / rewarded)。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40080" y="457200"/>
            <a:ext cx="10881360" cy="0"/>
          </a:xfrm>
          <a:prstGeom prst="line">
            <a:avLst/>
          </a:prstGeom>
          <a:ln w="12700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03  </a:t>
            </a:r>
            <a:r>
              <a:rPr sz="12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功能模块介绍与演示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12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即时通讯与好友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938528"/>
            <a:ext cx="3931920" cy="2457449"/>
          </a:xfrm>
          <a:prstGeom prst="rect">
            <a:avLst/>
          </a:prstGeom>
          <a:solidFill>
            <a:srgbClr val="DA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ri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3931920" cy="2457450"/>
          </a:xfrm>
          <a:prstGeom prst="rect">
            <a:avLst/>
          </a:prstGeom>
          <a:ln w="12700">
            <a:solidFill>
              <a:srgbClr val="6B6B78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5102352" y="2304288"/>
            <a:ext cx="3657600" cy="2336800"/>
          </a:xfrm>
          <a:prstGeom prst="rect">
            <a:avLst/>
          </a:prstGeom>
          <a:solidFill>
            <a:srgbClr val="DA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194560"/>
            <a:ext cx="3657600" cy="2336800"/>
          </a:xfrm>
          <a:prstGeom prst="rect">
            <a:avLst/>
          </a:prstGeom>
          <a:ln w="12700">
            <a:solidFill>
              <a:srgbClr val="6B6B7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9144000" y="1920240"/>
            <a:ext cx="2468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好友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申请 / 接受 / 拒绝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实时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WebSocket 实时 + REST 备用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回执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已读回执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40080" y="457200"/>
            <a:ext cx="10881360" cy="0"/>
          </a:xfrm>
          <a:prstGeom prst="line">
            <a:avLst/>
          </a:prstGeom>
          <a:ln w="12700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03  </a:t>
            </a:r>
            <a:r>
              <a:rPr sz="12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功能模块介绍与演示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13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全链路内容安全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77724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6 类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80+ 基础词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109728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28800"/>
            <a:ext cx="5212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DFA 六类风险词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色情 / 赌博 / 毒品 / 诈骗 / 侮辱 / 政治，DFA 多模匹配高效命中。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828800"/>
            <a:ext cx="109728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5212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文本归一化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谐音 · 数字 · 联系方式变体防御，识别绕过手法。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03320"/>
            <a:ext cx="109728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703320"/>
            <a:ext cx="5212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动态词库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管理员增删敏感词，实时加载生效，无需重启。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3703320"/>
            <a:ext cx="109728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703320"/>
            <a:ext cx="5212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全链路覆盖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REST + WS 聊天 + 资料字段全覆盖，高危拒绝、中低危记日志。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40080" y="457200"/>
            <a:ext cx="10881360" cy="0"/>
          </a:xfrm>
          <a:prstGeom prst="line">
            <a:avLst/>
          </a:prstGeom>
          <a:ln w="12700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04  </a:t>
            </a:r>
            <a:r>
              <a:rPr sz="12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应用案例与场景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14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四个真实场景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51206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109728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1168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01  </a:t>
            </a:r>
            <a:r>
              <a:rPr sz="21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新生破冰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入学快速找到同专业同学与兴趣搭子。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240280"/>
            <a:ext cx="5029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240280"/>
            <a:ext cx="109728" cy="15544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2316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02  </a:t>
            </a:r>
            <a:r>
              <a:rPr sz="21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科研组队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按研究方向与技能互补匹配科研伙伴。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114800"/>
            <a:ext cx="51206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114800"/>
            <a:ext cx="109728" cy="15544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9768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03  </a:t>
            </a:r>
            <a:r>
              <a:rPr sz="21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社团招募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社团发布需求，精准触达合适同学。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526280"/>
            <a:ext cx="5029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526280"/>
            <a:ext cx="109728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70916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04  </a:t>
            </a:r>
            <a:r>
              <a:rPr sz="21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校园安全交友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同校身份可信，内容审核护航。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40080" y="457200"/>
            <a:ext cx="10881360" cy="0"/>
          </a:xfrm>
          <a:prstGeom prst="line">
            <a:avLst/>
          </a:prstGeom>
          <a:ln w="12700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04  </a:t>
            </a:r>
            <a:r>
              <a:rPr sz="12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应用案例与场景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15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效果与价值闭环</a:t>
            </a:r>
          </a:p>
        </p:txBody>
      </p:sp>
      <p:pic>
        <p:nvPicPr>
          <p:cNvPr id="8" name="Picture 7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645920"/>
            <a:ext cx="10058400" cy="2008800"/>
          </a:xfrm>
          <a:prstGeom prst="rect">
            <a:avLst/>
          </a:prstGeom>
          <a:ln w="12700">
            <a:solidFill>
              <a:srgbClr val="6B6B7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画像 → 推荐 → 反馈 (like / skip 指数衰减) → 离线重训练 → 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60350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CI 全绿 · 69 测试通过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75120" y="822960"/>
            <a:ext cx="5120640" cy="5669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8000" b="1" i="0">
                <a:solidFill>
                  <a:srgbClr val="2A2A33"/>
                </a:solidFill>
                <a:latin typeface="Noto Serif CJK SC"/>
                <a:ea typeface="Noto Serif CJK SC"/>
                <a:cs typeface="Noto Serif CJK SC"/>
              </a:rPr>
              <a:t>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6969A"/>
                </a:solidFill>
                <a:latin typeface="DejaVu Sans Mono"/>
                <a:ea typeface="DejaVu Sans Mono"/>
                <a:cs typeface="DejaVu Sans Mono"/>
              </a:rPr>
              <a:t>05  INNOVATION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96112"/>
            <a:ext cx="45720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5568" y="896112"/>
            <a:ext cx="457200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6969A"/>
                </a:solidFill>
                <a:latin typeface="DejaVu Sans Mono"/>
                <a:ea typeface="DejaVu Sans Mono"/>
                <a:cs typeface="DejaVu Sans Mono"/>
              </a:rPr>
              <a:t>16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六个创新点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102412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01  </a:t>
            </a:r>
            <a:r>
              <a:rPr sz="17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三板块垂直匹配</a:t>
            </a:r>
            <a:r>
              <a:rPr sz="1300" b="0" i="0">
                <a:solidFill>
                  <a:srgbClr val="C4C4CC"/>
                </a:solidFill>
                <a:latin typeface="Noto Sans CJK SC"/>
                <a:ea typeface="Noto Sans CJK SC"/>
                <a:cs typeface="Noto Sans CJK SC"/>
              </a:rPr>
              <a:t>   学术 / 日常 / 恋爱分场景独立画像与规则。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02  </a:t>
            </a:r>
            <a:r>
              <a:rPr sz="17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AI 可解释推荐</a:t>
            </a:r>
            <a:r>
              <a:rPr sz="1300" b="0" i="0">
                <a:solidFill>
                  <a:srgbClr val="C4C4CC"/>
                </a:solidFill>
                <a:latin typeface="Noto Sans CJK SC"/>
                <a:ea typeface="Noto Sans CJK SC"/>
                <a:cs typeface="Noto Sans CJK SC"/>
              </a:rPr>
              <a:t>   大模型生成 “为什么推荐 TA” 的理由。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03  </a:t>
            </a:r>
            <a:r>
              <a:rPr sz="17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问卷即画像</a:t>
            </a:r>
            <a:r>
              <a:rPr sz="1300" b="0" i="0">
                <a:solidFill>
                  <a:srgbClr val="C4C4CC"/>
                </a:solidFill>
                <a:latin typeface="Noto Sans CJK SC"/>
                <a:ea typeface="Noto Sans CJK SC"/>
                <a:cs typeface="Noto Sans CJK SC"/>
              </a:rPr>
              <a:t>   问卷答案自动同步画像，驱动匹配。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04  </a:t>
            </a:r>
            <a:r>
              <a:rPr sz="17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推荐反馈闭环</a:t>
            </a:r>
            <a:r>
              <a:rPr sz="1300" b="0" i="0">
                <a:solidFill>
                  <a:srgbClr val="C4C4CC"/>
                </a:solidFill>
                <a:latin typeface="Noto Sans CJK SC"/>
                <a:ea typeface="Noto Sans CJK SC"/>
                <a:cs typeface="Noto Sans CJK SC"/>
              </a:rPr>
              <a:t>   like / skip 指数衰减反馈离线重训练。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05  </a:t>
            </a:r>
            <a:r>
              <a:rPr sz="17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全链路敏感词审核</a:t>
            </a:r>
            <a:r>
              <a:rPr sz="1300" b="0" i="0">
                <a:solidFill>
                  <a:srgbClr val="C4C4CC"/>
                </a:solidFill>
                <a:latin typeface="Noto Sans CJK SC"/>
                <a:ea typeface="Noto Sans CJK SC"/>
                <a:cs typeface="Noto Sans CJK SC"/>
              </a:rPr>
              <a:t>   DFA + 归一化 + 动态词库覆盖全入口。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06  </a:t>
            </a:r>
            <a:r>
              <a:rPr sz="17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本地 QLoRA 微调</a:t>
            </a:r>
            <a:r>
              <a:rPr sz="1300" b="0" i="0">
                <a:solidFill>
                  <a:srgbClr val="C4C4CC"/>
                </a:solidFill>
                <a:latin typeface="Noto Sans CJK SC"/>
                <a:ea typeface="Noto Sans CJK SC"/>
                <a:cs typeface="Noto Sans CJK SC"/>
              </a:rPr>
              <a:t>   本地微调保护隐私，数据不出校。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40080" y="457200"/>
            <a:ext cx="10881360" cy="0"/>
          </a:xfrm>
          <a:prstGeom prst="line">
            <a:avLst/>
          </a:prstGeom>
          <a:ln w="12700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05  </a:t>
            </a:r>
            <a:r>
              <a:rPr sz="12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创新性与独特视角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17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对比传统方案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10515600" cy="786384"/>
          </a:xfrm>
          <a:prstGeom prst="rect">
            <a:avLst/>
          </a:prstGeom>
          <a:solidFill>
            <a:srgbClr val="101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83080"/>
            <a:ext cx="16459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维度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1783080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微信群聊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3188" y="1783080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传统推荐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888" y="1783080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开放社交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66860" y="1783080"/>
            <a:ext cx="2171700" cy="7863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76588" y="1783080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SKDMatch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66860" y="2569464"/>
            <a:ext cx="2171700" cy="786384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822960" y="2569464"/>
            <a:ext cx="10515600" cy="0"/>
          </a:xfrm>
          <a:prstGeom prst="line">
            <a:avLst/>
          </a:prstGeom>
          <a:ln w="9525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2569464"/>
            <a:ext cx="16459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身份信任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2569464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△ 同校但匿名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3188" y="2569464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✗ 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2569464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✗ 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6588" y="2569464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✓ 同校认证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355848"/>
            <a:ext cx="10515600" cy="786384"/>
          </a:xfrm>
          <a:prstGeom prst="rect">
            <a:avLst/>
          </a:prstGeom>
          <a:solidFill>
            <a:srgbClr val="E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66860" y="3355848"/>
            <a:ext cx="2171700" cy="786384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822960" y="3355848"/>
            <a:ext cx="10515600" cy="0"/>
          </a:xfrm>
          <a:prstGeom prst="line">
            <a:avLst/>
          </a:prstGeom>
          <a:ln w="9525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32688" y="3355848"/>
            <a:ext cx="16459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可解释性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3355848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✗ 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3188" y="3355848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△ 部分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4888" y="3355848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✗ 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6588" y="3355848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✓ AI 理由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66860" y="4142232"/>
            <a:ext cx="2171700" cy="786384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22960" y="4142232"/>
            <a:ext cx="10515600" cy="0"/>
          </a:xfrm>
          <a:prstGeom prst="line">
            <a:avLst/>
          </a:prstGeom>
          <a:ln w="9525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32688" y="4142232"/>
            <a:ext cx="16459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匹配精准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1488" y="4142232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✗ 靠刷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3188" y="4142232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△ 单维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4888" y="4142232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△ 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6588" y="4142232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✓ 三板块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928616"/>
            <a:ext cx="10515600" cy="786384"/>
          </a:xfrm>
          <a:prstGeom prst="rect">
            <a:avLst/>
          </a:prstGeom>
          <a:solidFill>
            <a:srgbClr val="E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66860" y="4928616"/>
            <a:ext cx="2171700" cy="786384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822960" y="4928616"/>
            <a:ext cx="10515600" cy="0"/>
          </a:xfrm>
          <a:prstGeom prst="line">
            <a:avLst/>
          </a:prstGeom>
          <a:ln w="9525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32688" y="4928616"/>
            <a:ext cx="16459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内容安全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61488" y="4928616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△ 人工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3188" y="4928616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△ 一般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04888" y="4928616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✗ 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76588" y="4928616"/>
            <a:ext cx="198881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✓ 全链路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22960" y="5715000"/>
            <a:ext cx="10515600" cy="0"/>
          </a:xfrm>
          <a:prstGeom prst="line">
            <a:avLst/>
          </a:prstGeom>
          <a:ln w="15875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22960" y="1783080"/>
            <a:ext cx="0" cy="3931920"/>
          </a:xfrm>
          <a:prstGeom prst="line">
            <a:avLst/>
          </a:prstGeom>
          <a:ln w="15875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338560" y="1783080"/>
            <a:ext cx="0" cy="3931920"/>
          </a:xfrm>
          <a:prstGeom prst="line">
            <a:avLst/>
          </a:prstGeom>
          <a:ln w="15875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166860" y="1783080"/>
            <a:ext cx="0" cy="3931920"/>
          </a:xfrm>
          <a:prstGeom prst="line">
            <a:avLst/>
          </a:prstGeom>
          <a:ln w="19050">
            <a:solidFill>
              <a:srgbClr val="7C3A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40080" y="457200"/>
            <a:ext cx="10881360" cy="0"/>
          </a:xfrm>
          <a:prstGeom prst="line">
            <a:avLst/>
          </a:prstGeom>
          <a:ln w="12700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06  </a:t>
            </a:r>
            <a:r>
              <a:rPr sz="12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建议与展望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18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不足与改进方向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109728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810512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01  </a:t>
            </a:r>
            <a:r>
              <a:rPr sz="18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接入学校统一身份认证 CAS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进一步降低身份信任成本，确保在校生真实性。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07791"/>
            <a:ext cx="109728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889503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02  </a:t>
            </a:r>
            <a:r>
              <a:rPr sz="18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多模态画像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引入兴趣图谱与活动数据，丰富匹配维度。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986783"/>
            <a:ext cx="109728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968496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03  </a:t>
            </a:r>
            <a:r>
              <a:rPr sz="18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冷启动优化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新用户问卷引导 + 热门兜底，缓解数据稀疏。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065775"/>
            <a:ext cx="109728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047488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04  </a:t>
            </a:r>
            <a:r>
              <a:rPr sz="18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更大规模反馈训练 Two-Tower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积累反馈数据，持续提升精排效果。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40080" y="457200"/>
            <a:ext cx="10881360" cy="0"/>
          </a:xfrm>
          <a:prstGeom prst="line">
            <a:avLst/>
          </a:prstGeom>
          <a:ln w="12700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630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06  </a:t>
            </a:r>
            <a:r>
              <a:rPr sz="120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建议与展望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B78"/>
                </a:solidFill>
                <a:latin typeface="DejaVu Sans Mono"/>
                <a:ea typeface="DejaVu Sans Mono"/>
                <a:cs typeface="DejaVu Sans Mono"/>
              </a:rPr>
              <a:t>19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01015"/>
                </a:solidFill>
                <a:latin typeface="Noto Serif CJK SC"/>
                <a:ea typeface="Noto Serif CJK SC"/>
                <a:cs typeface="Noto Serif CJK SC"/>
              </a:rPr>
              <a:t>推广计划与资源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推广四阶段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5303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sz="15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01  </a:t>
            </a:r>
            <a:r>
              <a:rPr sz="17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校内试点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sz="15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02  </a:t>
            </a:r>
            <a:r>
              <a:rPr sz="17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迭代优化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sz="15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03  </a:t>
            </a:r>
            <a:r>
              <a:rPr sz="17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多校扩展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sz="15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04  </a:t>
            </a:r>
            <a:r>
              <a:rPr sz="1700" b="1" i="0">
                <a:solidFill>
                  <a:srgbClr val="101015"/>
                </a:solidFill>
                <a:latin typeface="Noto Sans CJK SC"/>
                <a:ea typeface="Noto Sans CJK SC"/>
                <a:cs typeface="Noto Sans CJK SC"/>
              </a:rPr>
              <a:t>社群运营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80" y="1737360"/>
            <a:ext cx="0" cy="4114800"/>
          </a:xfrm>
          <a:prstGeom prst="line">
            <a:avLst/>
          </a:prstGeom>
          <a:ln w="9525">
            <a:solidFill>
              <a:srgbClr val="6B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0" y="17373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资源需求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·  </a:t>
            </a:r>
            <a:r>
              <a:rPr sz="14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云服务器 / 容器部署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·  </a:t>
            </a:r>
            <a:r>
              <a:rPr sz="14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托管 PostgreSQL + pgvector + Redis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·  </a:t>
            </a:r>
            <a:r>
              <a:rPr sz="14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对象存储 (MinIO / OSS)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·  </a:t>
            </a:r>
            <a:r>
              <a:rPr sz="1450" b="0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AI 推理：初期 API，长期本地 QLoRA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75120" y="822960"/>
            <a:ext cx="5120640" cy="5669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8000" b="1" i="0">
                <a:solidFill>
                  <a:srgbClr val="2A2A33"/>
                </a:solidFill>
                <a:latin typeface="Noto Serif CJK SC"/>
                <a:ea typeface="Noto Serif CJK SC"/>
                <a:cs typeface="Noto Serif CJK SC"/>
              </a:rPr>
              <a:t>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6969A"/>
                </a:solidFill>
                <a:latin typeface="DejaVu Sans Mono"/>
                <a:ea typeface="DejaVu Sans Mono"/>
                <a:cs typeface="DejaVu Sans Mono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96112"/>
            <a:ext cx="45720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5568" y="896112"/>
            <a:ext cx="457200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64190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6969A"/>
                </a:solidFill>
                <a:latin typeface="DejaVu Sans Mono"/>
                <a:ea typeface="DejaVu Sans Mono"/>
                <a:cs typeface="DejaVu Sans Mono"/>
              </a:rPr>
              <a:t>20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640080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7315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6400" b="1" i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感谢聆听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FCFD6"/>
                </a:solidFill>
                <a:latin typeface="Noto Sans CJK SC"/>
                <a:ea typeface="Noto Sans CJK SC"/>
                <a:cs typeface="Noto Sans CJK SC"/>
              </a:rPr>
              <a:t>欢迎扫码体验 SKDMatch · 科爱捏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22208" y="1993392"/>
            <a:ext cx="3108960" cy="356616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41080" y="1783080"/>
            <a:ext cx="3108960" cy="3566160"/>
          </a:xfrm>
          <a:prstGeom prst="round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011680"/>
            <a:ext cx="2651760" cy="2651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41080" y="4937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3AED"/>
                </a:solidFill>
                <a:latin typeface="DejaVu Sans Mono"/>
                <a:ea typeface="DejaVu Sans Mono"/>
                <a:cs typeface="DejaVu Sans Mono"/>
              </a:rPr>
              <a:t>SCAN · </a:t>
            </a:r>
            <a:r>
              <a:rPr sz="1100" b="1" i="0">
                <a:solidFill>
                  <a:srgbClr val="2A2A33"/>
                </a:solidFill>
                <a:latin typeface="Noto Sans CJK SC"/>
                <a:ea typeface="Noto Sans CJK SC"/>
                <a:cs typeface="Noto Sans CJK SC"/>
              </a:rPr>
              <a:t>GitHub 仓库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496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97316"/>
                </a:solidFill>
                <a:latin typeface="DejaVu Sans Mono"/>
                <a:ea typeface="DejaVu Sans Mono"/>
                <a:cs typeface="DejaVu Sans Mono"/>
              </a:rPr>
              <a:t>TEAM c-4 · Philia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FCFD6"/>
                </a:solidFill>
                <a:latin typeface="Noto Sans CJK SC"/>
                <a:ea typeface="Noto Sans CJK SC"/>
                <a:cs typeface="Noto Sans CJK SC"/>
              </a:rPr>
              <a:t>唐志昊 · 司雪阳 · 唐玟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6969A"/>
                </a:solidFill>
                <a:latin typeface="DejaVu Sans Mono"/>
                <a:ea typeface="DejaVu Sans Mono"/>
                <a:cs typeface="DejaVu Sans Mono"/>
              </a:rPr>
              <a:t>TRACK 生活娱乐伙伴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